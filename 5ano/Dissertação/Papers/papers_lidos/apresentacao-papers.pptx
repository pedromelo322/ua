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789a7f1f-9075-4f6b-58b6-92fa8090f71a}">
          <p14:sldIdLst>
            <p14:sldId id="256"/>
          </p14:sldIdLst>
        </p14:section>
        <p14:section name="Orquestração com base no CPU" id="{a3c2088a-3c7c-bf93-071e-8bde1423a298}">
          <p14:sldIdLst>
            <p14:sldId id="257"/>
            <p14:sldId id="258"/>
            <p14:sldId id="259"/>
          </p14:sldIdLst>
        </p14:section>
        <p14:section name="Orquestração consciente da rede" id="{962717e3-73a4-608f-e435-f4e41878e4da}">
          <p14:sldIdLst>
            <p14:sldId id="260"/>
            <p14:sldId id="261"/>
            <p14:sldId id="262"/>
            <p14:sldId id="263"/>
          </p14:sldIdLst>
        </p14:section>
        <p14:section name="Orquestração em SDVs" id="{ed013d36-ddb2-579f-052b-8b40f499f5a5}">
          <p14:sldIdLst>
            <p14:sldId id="264"/>
            <p14:sldId id="265"/>
          </p14:sldIdLst>
        </p14:section>
        <p14:section name="Gap" id="{95241366-35fd-84da-9de8-9607228a6ed5}">
          <p14:sldIdLst>
            <p14:sldId id="266"/>
          </p14:sldIdLst>
        </p14:section>
        <p14:section name="Extra" id="{0c807c37-2ead-bf14-bdd1-b72fcf802740}">
          <p14:sldIdLst>
            <p14:sldId id="267"/>
            <p14:sldId id="268"/>
            <p14:sldId id="269"/>
            <p14:sldId id="270"/>
          </p14:sldIdLst>
        </p14:section>
        <p14:section name="Proposta" id="{909945c1-2fc0-a45c-e670-694df6e9e4c9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destes papers é pôr o maior número possível de tarefas RT a correr sem que interfiram umas com as outras.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container RT declara (Q, P): Q é o tempo de CPU de que precisa e P o período em que é executado. Um nó só aceita o container se a soma de Q/P de todos os containers RT, incluindo o novo, for ≤ 1 − δ, em que δ é uma margem para o overhead do nó. Dos nós que passam o teste, escolhe o que tem mais CPU por reservar. No nó, o container recebe Q de CPU em cada período P. Se Q estiver mal calculado e o container o esgotar sem acabar, fica suspenso até ao período seguinte. Monitoriza o nó (interrupções, trocas de contexto, I/O) e o container (deadlines falhados, lateness, tempo de resposta).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CRD com criticidade, período, deadline e WCET. Um scheduler secundário ordena os containers por criticidade, faz o teste de admissão Σ WCET/P ≤ M × 0,95 (M = número de cores) e coloca-os nos nós segundo a criticidade. Em runtime conta os deadlines falhados. Acima de um limiar, expulsa um container stateless de criticidade inferior, que é reagendado noutro nó. É um robô móvel com ROS, por isso é o caso mais próximo do Autoware. Lacuna comum (REACT e RT-Kube): nenhum dos dois tem a rede em consideração.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os mais semelhantes ao meu trabalho: propõem arquiteturas que juntam a plataforma de containers e a rede, em contexto 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 SCC recebe o pedido da aplicação e pede ao SCO um plano de colocação dos workloads. 2. O SCNS pede ao MoNC (o CNC) os streams TSN que esse plano exige. 3. O MoNC verifica se consegue garantir as latências. Se sim, configura as bridges; se não, devolve um erro e o SCC pede um novo plano. 4. Com os streams garantidos, o SCS arranca os pods. O tráfego TSN sai por um plugin CNI que adiciona o VLAN ID e o PCP. Lacunas: não tem monitorização em runtime; o shaping é prioridade + PSFP (não TAS); não trata o RT do CPU; não tem criticidade.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 utilizador submete o job pela User API, com criticidade HI, períodos e WCETs, e um requisito de timeslot TDMA. 2. O Scheduler filtra os nós sem garantia suficiente, com base na informação do State monitor. 3. Pede a cada nó candidato que corra o teste de escalonabilidade, através do módulo Real-time do Worker Agent. 4. Pede ao Network manager um timeslot livre. 5. Escolhe o nó e o Launcher envia a ação. 6. Durante a execução, o módulo Assurance vigia o nó. Se uma carga vizinha começar a perturbar o job crítico, tenta eliminá-la. Se não conseguir, baixa a garantia do nó e o plano de controlo migra o job. Lacunas: a rede é TDMA, não TSN; a avaliação motiva o modelo mas não testa a colocação.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Estende o Kubernetes para serviços críticos numa smart city. Usa um CRD próprio (FogService) com os parâmetros RT de cada serviço. Plugin RT no scheduler: o Filter rejeita nós onde o pod ultrapassaria a quota RT (95%), o Score espalha os pods RT pelos nós, e o PostFilter expulsa pods de prioridade mais baixa se não houver espaço. Plugin de dependências: coloca o pod perto das réplicas de que depende, usando a latência medida (ping) entre nós e métricas da aplicação. Em runtime, simula de novo o scheduling de cada pod e, se houver um nó melhor, expulsa-o para ser recolocado. Lacunas: apesar de considerar a latência da rede, não usa TSN.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Foi o único paper relevante que encontrei sobre escalonamento num veículo SDV.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Propõe um algoritmo que decide em conjunto onde processar cada tarefa e por que caminho, numa arquitetura zonal (4 ECUs zonais + 1 unidade central). O objetivo não é a menor latência mas sim a maior taxa de tarefas cumpridas dentro do prazo, o que é mais importante para funções críticas. Também prefere caminhos mais fiáveis. Lacunas: assume que conhece as tarefas à partida (diz que é dinâmico, mas não explica como); é só simulação; não usa TSN. O que aproveito: as baselines deles. A estática (cada tarefa na ECU da sua zona) é o que o operador faz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TSN em containers Docker: as apps BE ficam numa bridge e as apps TSN usam a rede do host, para conseguirem configurar a NIC (TAS/CBS). Com TAS + LaunchTime os resultados ficam quase iguais ao nativo; com CBS basta o shaper. Identificam dois problemas: várias apps a configurar o mesmo TAS entram em conflito, e mais containers num nó estragam configurações que eram ótimas. Lacuna: usa a rede do host, que não é o padrão da indústria (overlay) e expõe o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 CNI que dá TSN a pods numa rede overlay. Interceta os pacotes TSN antes de saírem do container. Um container próprio faz o shaping (TAS) e envia-os com kernel bypass (DPDK). Latência e jitter praticamente iguais a bare-metal. Vantagem: latência e jitter ao nível do bare-metal. Desvantagens: com o kernel bypass perdem-se a monitorização e a segurança do kernel. Presumo também que, pela forma como o DPDK funciona, fique um core ocupado a fazer polling (o paper não o diz).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 CNI que preserva os metadados TSN nos pacotes. Um programa eBPF guarda a prioridade e o txtime à saída do pod e volta a pô-los antes da NIC. Vantagem: os pacotes continuam a passar pelo kernel, e o custo deve ser baixo (12 bytes por pacote). Desvantagens: não reduz a latência do container e não fizeram testes de desempenho. Deixam explicitamente de fora a configuração centralizada da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23444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14884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9260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Trabalho relacionado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Orquestração de containers com tempo real e TSN</a:t>
            </a:r>
            <a:endParaRPr lang="en-US" sz="1800" dirty="0"/>
          </a:p>
        </p:txBody>
      </p:sp>
      <p:sp>
        <p:nvSpPr>
          <p:cNvPr id="4" name="Autor"/>
          <p:cNvSpPr txBox="1"/>
          <p:nvPr/>
        </p:nvSpPr>
        <p:spPr>
          <a:xfrm>
            <a:off x="64008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Pedro Melo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148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Orquestração com base no CPU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926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Objetivo: pôr o maior número possível de tarefas RT a correr sem que interfiram umas com as outras.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ORQUESTRAÇÃO COM BASE NO CPU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REACT</a:t>
            </a:r>
            <a:endParaRPr lang="en-US" sz="2800" dirty="0"/>
          </a:p>
        </p:txBody>
      </p:sp>
      <p:pic>
        <p:nvPicPr>
          <p:cNvPr id="4" name="Figura REACT" descr="Arquitetura REA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635" y="1234440"/>
            <a:ext cx="2824089" cy="3337560"/>
          </a:xfrm>
          <a:prstGeom prst="rect">
            <a:avLst/>
          </a:prstGeom>
        </p:spPr>
      </p:pic>
      <p:sp>
        <p:nvSpPr>
          <p:cNvPr id="5" name="Figura REACT legenda"/>
          <p:cNvSpPr txBox="1"/>
          <p:nvPr/>
        </p:nvSpPr>
        <p:spPr>
          <a:xfrm>
            <a:off x="599635" y="4617720"/>
            <a:ext cx="28240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Arquitetura REACT</a:t>
            </a:r>
            <a:endParaRPr lang="en-US" sz="1000" dirty="0"/>
          </a:p>
        </p:txBody>
      </p:sp>
      <p:sp>
        <p:nvSpPr>
          <p:cNvPr id="6" name="Bullets"/>
          <p:cNvSpPr txBox="1"/>
          <p:nvPr/>
        </p:nvSpPr>
        <p:spPr>
          <a:xfrm>
            <a:off x="3931920" y="12801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Cada container RT declara (Q, P):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 é o tempo de CPU de que precisa e P o período em que é executado.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Admissão: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nó só aceita se Σ Q/P (com o novo) ≤ 1 − δ, sendo δ a margem para overhead. Dos nós que passam, escolhe o que tem mais CPU por reservar.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No nó: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recebe Q de CPU em cada período P. Se esgotar Q sem acabar, fica suspenso até ao período seguinte.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Monitoriza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nó (interrupções, trocas de contexto, I/O) e o container (deadlines falhados, lateness, tempo de resposta).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ORQUESTRAÇÃO COM BASE NO CPU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RT-Kube</a:t>
            </a:r>
            <a:endParaRPr lang="en-US" sz="2800" dirty="0"/>
          </a:p>
        </p:txBody>
      </p:sp>
      <p:pic>
        <p:nvPicPr>
          <p:cNvPr id="4" name="Figura RT-Kube" descr="Arquitetura RT-Ku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59333"/>
            <a:ext cx="4206240" cy="2042054"/>
          </a:xfrm>
          <a:prstGeom prst="rect">
            <a:avLst/>
          </a:prstGeom>
        </p:spPr>
      </p:pic>
      <p:sp>
        <p:nvSpPr>
          <p:cNvPr id="5" name="Figura RT-Kube legenda"/>
          <p:cNvSpPr txBox="1"/>
          <p:nvPr/>
        </p:nvSpPr>
        <p:spPr>
          <a:xfrm>
            <a:off x="457200" y="3947107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Arquitetura RT-Kube</a:t>
            </a:r>
            <a:endParaRPr lang="en-US" sz="1000" dirty="0"/>
          </a:p>
        </p:txBody>
      </p:sp>
      <p:sp>
        <p:nvSpPr>
          <p:cNvPr id="6" name="Bullets"/>
          <p:cNvSpPr txBox="1"/>
          <p:nvPr/>
        </p:nvSpPr>
        <p:spPr>
          <a:xfrm>
            <a:off x="4937760" y="128016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CRD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 criticidade, período, deadline e WCET (Worst Case Execution Time).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Scheduler secundário: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ordena por criticidade, testa Σ WCET/P ≤ M × 0,95 (M = nº de cores) e coloca nos nós segundo a criticidade.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Em runtime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conta deadlines falhados. Acima de um limiar, expulsa um container stateless de criticidade inferior, que é reagendado noutro nó.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148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Orquestração consciente da rede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926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São os mais semelhantes ao meu trabalho: propõem arquiteturas que juntam a plataforma de containers e a rede, em contexto industrial.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ORQUESTRAÇÃO CONSCIENTE DA REDE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FabOS</a:t>
            </a:r>
            <a:endParaRPr lang="en-US" sz="2800" dirty="0"/>
          </a:p>
        </p:txBody>
      </p:sp>
      <p:pic>
        <p:nvPicPr>
          <p:cNvPr id="4" name="Figura FabOS" descr="Arquitetura Fab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822853" cy="3200400"/>
          </a:xfrm>
          <a:prstGeom prst="rect">
            <a:avLst/>
          </a:prstGeom>
        </p:spPr>
      </p:pic>
      <p:sp>
        <p:nvSpPr>
          <p:cNvPr id="5" name="Figura FabOS legenda"/>
          <p:cNvSpPr txBox="1"/>
          <p:nvPr/>
        </p:nvSpPr>
        <p:spPr>
          <a:xfrm>
            <a:off x="457200" y="4480560"/>
            <a:ext cx="38228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Arquitetura FabOS</a:t>
            </a:r>
            <a:endParaRPr lang="en-US" sz="1000" dirty="0"/>
          </a:p>
        </p:txBody>
      </p:sp>
      <p:sp>
        <p:nvSpPr>
          <p:cNvPr id="6" name="Bullets"/>
          <p:cNvSpPr txBox="1"/>
          <p:nvPr/>
        </p:nvSpPr>
        <p:spPr>
          <a:xfrm>
            <a:off x="4754880" y="12344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O SCC recebe o pedido da aplicação e pede ao SCO um plano de colocação.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O SCNS pede ao MoNC (o CNC) os streams TSN que esse plano exige.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O MoNC verifica se garante as latências: se sim, configura as bridges; se não, o SCC pede novo plano.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Com os streams garantidos, o SCS arranca os pods. O CNI marca o VLAN ID e o PCP.</a:t>
            </a:r>
            <a:endParaRPr lang="en-US" sz="1400" dirty="0"/>
          </a:p>
        </p:txBody>
      </p:sp>
      <p:sp>
        <p:nvSpPr>
          <p:cNvPr id="7" name="Lacunas FabOS fundo"/>
          <p:cNvSpPr/>
          <p:nvPr/>
        </p:nvSpPr>
        <p:spPr>
          <a:xfrm>
            <a:off x="4754880" y="365760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BECEC"/>
          </a:solidFill>
          <a:ln w="12700">
            <a:solidFill>
              <a:srgbClr val="FBECEC"/>
            </a:solidFill>
            <a:prstDash val="solid"/>
          </a:ln>
        </p:spPr>
      </p:sp>
      <p:sp>
        <p:nvSpPr>
          <p:cNvPr id="8" name="Lacunas FabOS"/>
          <p:cNvSpPr txBox="1"/>
          <p:nvPr/>
        </p:nvSpPr>
        <p:spPr>
          <a:xfrm>
            <a:off x="4937760" y="3730752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Lacunas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sem monitorização em runtime; shaping por prioridade + PSFP (não TAS); não trata o RT do CPU; sem criticidade.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ORQUESTRAÇÃO CONSCIENTE DA REDE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k4.0s</a:t>
            </a:r>
            <a:endParaRPr lang="en-US" sz="2800" dirty="0"/>
          </a:p>
        </p:txBody>
      </p:sp>
      <p:pic>
        <p:nvPicPr>
          <p:cNvPr id="4" name="Figura k4.0s" descr="Arquitetura k4.0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723" y="1188720"/>
            <a:ext cx="2524153" cy="3291840"/>
          </a:xfrm>
          <a:prstGeom prst="rect">
            <a:avLst/>
          </a:prstGeom>
        </p:spPr>
      </p:pic>
      <p:sp>
        <p:nvSpPr>
          <p:cNvPr id="5" name="Figura k4.0s legenda"/>
          <p:cNvSpPr txBox="1"/>
          <p:nvPr/>
        </p:nvSpPr>
        <p:spPr>
          <a:xfrm>
            <a:off x="566723" y="4526280"/>
            <a:ext cx="25241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Arquitetura k4.0s</a:t>
            </a:r>
            <a:endParaRPr lang="en-US" sz="1000" dirty="0"/>
          </a:p>
        </p:txBody>
      </p:sp>
      <p:sp>
        <p:nvSpPr>
          <p:cNvPr id="6" name="Bullets"/>
          <p:cNvSpPr txBox="1"/>
          <p:nvPr/>
        </p:nvSpPr>
        <p:spPr>
          <a:xfrm>
            <a:off x="3566160" y="1188720"/>
            <a:ext cx="5120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O utilizador submete o job pela User API, com criticidade HI, períodos e WCETs, e um requisito de timeslot TDMA.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O Scheduler filtra os nós sem garantia suficiente, com base na informação do State monitor.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Pede a cada nó candidato que corra o teste de escalonabilidade, através do módulo Real-time do Worker Agent.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Pede ao Network manager um timeslot livre.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Escolhe o nó e o Launcher envia a ação.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Durante a execução, o módulo Assurance vigia o nó. Se uma carga vizinha começar a perturbar o job crítico, tenta eliminá-la. Se não conseguir, baixa a garantia do nó e o plano de controlo migra o job.</a:t>
            </a:r>
            <a:endParaRPr lang="en-US" sz="1300" dirty="0"/>
          </a:p>
        </p:txBody>
      </p:sp>
      <p:sp>
        <p:nvSpPr>
          <p:cNvPr id="7" name="Lacunas k4.0s fundo"/>
          <p:cNvSpPr/>
          <p:nvPr/>
        </p:nvSpPr>
        <p:spPr>
          <a:xfrm>
            <a:off x="3566160" y="411480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FBECEC"/>
          </a:solidFill>
          <a:ln w="12700">
            <a:solidFill>
              <a:srgbClr val="FBECEC"/>
            </a:solidFill>
            <a:prstDash val="solid"/>
          </a:ln>
        </p:spPr>
      </p:sp>
      <p:sp>
        <p:nvSpPr>
          <p:cNvPr id="8" name="Lacunas k4.0s"/>
          <p:cNvSpPr txBox="1"/>
          <p:nvPr/>
        </p:nvSpPr>
        <p:spPr>
          <a:xfrm>
            <a:off x="3749040" y="418795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Lacunas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rede é TDMA, não TSN; a avaliação motiva o modelo mas não testa a colocação.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ORQUESTRAÇÃO CONSCIENTE DA REDE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Edge-Cloud Continuum Orchestration</a:t>
            </a:r>
            <a:endParaRPr lang="en-US" sz="2800" dirty="0"/>
          </a:p>
        </p:txBody>
      </p:sp>
      <p:pic>
        <p:nvPicPr>
          <p:cNvPr id="4" name="Figura Edge-Cloud" descr="Arquitetura Edge-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926080" cy="3144644"/>
          </a:xfrm>
          <a:prstGeom prst="rect">
            <a:avLst/>
          </a:prstGeom>
        </p:spPr>
      </p:pic>
      <p:sp>
        <p:nvSpPr>
          <p:cNvPr id="5" name="Figura Edge-Cloud legenda"/>
          <p:cNvSpPr txBox="1"/>
          <p:nvPr/>
        </p:nvSpPr>
        <p:spPr>
          <a:xfrm>
            <a:off x="457200" y="44248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Arquitetura Edge-Cloud</a:t>
            </a:r>
            <a:endParaRPr lang="en-US" sz="1000" dirty="0"/>
          </a:p>
        </p:txBody>
      </p:sp>
      <p:sp>
        <p:nvSpPr>
          <p:cNvPr id="6" name="Bullets"/>
          <p:cNvSpPr txBox="1"/>
          <p:nvPr/>
        </p:nvSpPr>
        <p:spPr>
          <a:xfrm>
            <a:off x="3657600" y="118872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Estende o Kubernetes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para serviços críticos numa smart city. Usa um CRD próprio (FogService) com os parâmetros RT de cada serviço.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Plugin RT no scheduler: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 Filter rejeita nós onde o pod ultrapassaria a quota RT (95%), o Score espalha os pods RT pelos nós, e o PostFilter expulsa pods de prioridade mais baixa se não houver espaço.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Plugin de dependências: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coloca o pod perto das réplicas de que depende, usando a latência medida (ping) entre nós e métricas da aplicação.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Em runtime,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simula de novo o scheduling de cada pod e, se houver um nó melhor, expulsa-o para ser recolocado.</a:t>
            </a:r>
            <a:endParaRPr lang="en-US" sz="1300" dirty="0"/>
          </a:p>
        </p:txBody>
      </p:sp>
      <p:sp>
        <p:nvSpPr>
          <p:cNvPr id="7" name="Lacunas Edge-Cloud fundo"/>
          <p:cNvSpPr/>
          <p:nvPr/>
        </p:nvSpPr>
        <p:spPr>
          <a:xfrm>
            <a:off x="3657600" y="411480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BECEC"/>
          </a:solidFill>
          <a:ln w="12700">
            <a:solidFill>
              <a:srgbClr val="FBECEC"/>
            </a:solidFill>
            <a:prstDash val="solid"/>
          </a:ln>
        </p:spPr>
      </p:sp>
      <p:sp>
        <p:nvSpPr>
          <p:cNvPr id="8" name="Lacunas Edge-Cloud"/>
          <p:cNvSpPr txBox="1"/>
          <p:nvPr/>
        </p:nvSpPr>
        <p:spPr>
          <a:xfrm>
            <a:off x="3840480" y="41879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Lacunas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apesar de considerar a latência da rede, não usa TSN.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148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Orquestração em SDVs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926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Foi o único paper relevante que encontrei sobre escalonamento num veículo SDV.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ORQUESTRAÇÃO EM SDVS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Escalonamento determinístico em SDVs</a:t>
            </a:r>
            <a:endParaRPr lang="en-US" sz="28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Decide em conjunto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onde processar cada tarefa e por que caminho, numa arquitetura zonal (4 ECUs zonais + 1 unidade central).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Objetivo: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não a menor latência, mas a maior taxa de tarefas cumpridas dentro do prazo, o que importa mais para funções críticas. Também prefere caminhos mais fiáveis.</a:t>
            </a:r>
            <a:endParaRPr lang="en-US" sz="1600" dirty="0"/>
          </a:p>
        </p:txBody>
      </p:sp>
      <p:sp>
        <p:nvSpPr>
          <p:cNvPr id="5" name="Lacunas SDV fundo"/>
          <p:cNvSpPr/>
          <p:nvPr/>
        </p:nvSpPr>
        <p:spPr>
          <a:xfrm>
            <a:off x="457200" y="30632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12700">
            <a:solidFill>
              <a:srgbClr val="FBECEC"/>
            </a:solidFill>
            <a:prstDash val="solid"/>
          </a:ln>
        </p:spPr>
      </p:sp>
      <p:sp>
        <p:nvSpPr>
          <p:cNvPr id="6" name="Lacunas SDV"/>
          <p:cNvSpPr txBox="1"/>
          <p:nvPr/>
        </p:nvSpPr>
        <p:spPr>
          <a:xfrm>
            <a:off x="640080" y="3136392"/>
            <a:ext cx="7863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Lacunas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assume que conhece as tarefas à partida (diz que é dinâmico, mas não explica como); só simulação; não usa TSN.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GAP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Gap</a:t>
            </a:r>
            <a:endParaRPr lang="en-US" sz="2800" dirty="0"/>
          </a:p>
        </p:txBody>
      </p:sp>
      <p:graphicFrame>
        <p:nvGraphicFramePr>
          <p:cNvPr id="12" name="Tabela ga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89888"/>
                <a:gridCol w="1389888"/>
                <a:gridCol w="1389888"/>
                <a:gridCol w="1389888"/>
                <a:gridCol w="1389888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Orquestrador decide a colocação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Rede TSN configurada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RT do CPU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Contexto veículo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Monitorização em runtime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REACT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RT-Kube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Edge-Cloud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FabOS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k4.0s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4"/>
                          </a:solidFill>
                        </a:rPr>
                        <a:t>◐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SDV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5" name="Legenda tabela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cobre    </a:t>
            </a:r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◐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parcial    </a:t>
            </a:r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✗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não cobre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148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Extra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926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TSN em containers e em redes overlay.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EXTRA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Bridging TSN and Containerization</a:t>
            </a:r>
            <a:endParaRPr lang="en-US" sz="2800" dirty="0"/>
          </a:p>
        </p:txBody>
      </p:sp>
      <p:sp>
        <p:nvSpPr>
          <p:cNvPr id="4" name="Caminho BE 1"/>
          <p:cNvSpPr/>
          <p:nvPr/>
        </p:nvSpPr>
        <p:spPr>
          <a:xfrm>
            <a:off x="457200" y="1325880"/>
            <a:ext cx="1066800" cy="594360"/>
          </a:xfrm>
          <a:prstGeom prst="roundRect">
            <a:avLst>
              <a:gd name="adj" fmla="val 12308"/>
            </a:avLst>
          </a:prstGeom>
          <a:solidFill>
            <a:srgbClr val="F5F5FA"/>
          </a:solidFill>
          <a:ln w="12700">
            <a:solidFill>
              <a:srgbClr val="F5F5FA"/>
            </a:solidFill>
            <a:prstDash val="solid"/>
          </a:ln>
        </p:spPr>
      </p:sp>
      <p:sp>
        <p:nvSpPr>
          <p:cNvPr id="5" name="Caminho BE 1 texto"/>
          <p:cNvSpPr txBox="1"/>
          <p:nvPr/>
        </p:nvSpPr>
        <p:spPr>
          <a:xfrm>
            <a:off x="457200" y="1325880"/>
            <a:ext cx="1066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Apps BE</a:t>
            </a:r>
            <a:endParaRPr lang="en-US" sz="1200" dirty="0"/>
          </a:p>
        </p:txBody>
      </p:sp>
      <p:sp>
        <p:nvSpPr>
          <p:cNvPr id="6" name="Caminho BE seta 1"/>
          <p:cNvSpPr/>
          <p:nvPr/>
        </p:nvSpPr>
        <p:spPr>
          <a:xfrm>
            <a:off x="1551432" y="1623060"/>
            <a:ext cx="219456" cy="0"/>
          </a:xfrm>
          <a:prstGeom prst="line">
            <a:avLst/>
          </a:prstGeom>
          <a:noFill/>
          <a:ln w="15875">
            <a:solidFill>
              <a:srgbClr val="9A9DAB"/>
            </a:solidFill>
            <a:prstDash val="solid"/>
            <a:tailEnd type="triangle"/>
          </a:ln>
        </p:spPr>
      </p:sp>
      <p:sp>
        <p:nvSpPr>
          <p:cNvPr id="7" name="Caminho BE 2"/>
          <p:cNvSpPr/>
          <p:nvPr/>
        </p:nvSpPr>
        <p:spPr>
          <a:xfrm>
            <a:off x="1798320" y="1325880"/>
            <a:ext cx="1066800" cy="594360"/>
          </a:xfrm>
          <a:prstGeom prst="roundRect">
            <a:avLst>
              <a:gd name="adj" fmla="val 12308"/>
            </a:avLst>
          </a:prstGeom>
          <a:solidFill>
            <a:srgbClr val="F5F5FA"/>
          </a:solidFill>
          <a:ln w="12700">
            <a:solidFill>
              <a:srgbClr val="F5F5FA"/>
            </a:solidFill>
            <a:prstDash val="solid"/>
          </a:ln>
        </p:spPr>
      </p:sp>
      <p:sp>
        <p:nvSpPr>
          <p:cNvPr id="8" name="Caminho BE 2 texto"/>
          <p:cNvSpPr txBox="1"/>
          <p:nvPr/>
        </p:nvSpPr>
        <p:spPr>
          <a:xfrm>
            <a:off x="1798320" y="1325880"/>
            <a:ext cx="1066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Bridge Docker</a:t>
            </a:r>
            <a:endParaRPr lang="en-US" sz="1200" dirty="0"/>
          </a:p>
        </p:txBody>
      </p:sp>
      <p:sp>
        <p:nvSpPr>
          <p:cNvPr id="9" name="Caminho BE seta 2"/>
          <p:cNvSpPr/>
          <p:nvPr/>
        </p:nvSpPr>
        <p:spPr>
          <a:xfrm>
            <a:off x="2892552" y="1623060"/>
            <a:ext cx="219456" cy="0"/>
          </a:xfrm>
          <a:prstGeom prst="line">
            <a:avLst/>
          </a:prstGeom>
          <a:noFill/>
          <a:ln w="15875">
            <a:solidFill>
              <a:srgbClr val="9A9DAB"/>
            </a:solidFill>
            <a:prstDash val="solid"/>
            <a:tailEnd type="triangle"/>
          </a:ln>
        </p:spPr>
      </p:sp>
      <p:sp>
        <p:nvSpPr>
          <p:cNvPr id="10" name="Caminho BE 3"/>
          <p:cNvSpPr/>
          <p:nvPr/>
        </p:nvSpPr>
        <p:spPr>
          <a:xfrm>
            <a:off x="3139440" y="1325880"/>
            <a:ext cx="1066800" cy="594360"/>
          </a:xfrm>
          <a:prstGeom prst="roundRect">
            <a:avLst>
              <a:gd name="adj" fmla="val 12308"/>
            </a:avLst>
          </a:prstGeom>
          <a:solidFill>
            <a:srgbClr val="F5F5FA"/>
          </a:solidFill>
          <a:ln w="12700">
            <a:solidFill>
              <a:srgbClr val="F5F5FA"/>
            </a:solidFill>
            <a:prstDash val="solid"/>
          </a:ln>
        </p:spPr>
      </p:sp>
      <p:sp>
        <p:nvSpPr>
          <p:cNvPr id="11" name="Caminho BE 3 texto"/>
          <p:cNvSpPr txBox="1"/>
          <p:nvPr/>
        </p:nvSpPr>
        <p:spPr>
          <a:xfrm>
            <a:off x="3139440" y="1325880"/>
            <a:ext cx="1066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NIC</a:t>
            </a:r>
            <a:endParaRPr lang="en-US" sz="1200" dirty="0"/>
          </a:p>
        </p:txBody>
      </p:sp>
      <p:sp>
        <p:nvSpPr>
          <p:cNvPr id="12" name="Caminho TSN 1"/>
          <p:cNvSpPr/>
          <p:nvPr/>
        </p:nvSpPr>
        <p:spPr>
          <a:xfrm>
            <a:off x="457200" y="2148840"/>
            <a:ext cx="1066800" cy="594360"/>
          </a:xfrm>
          <a:prstGeom prst="roundRect">
            <a:avLst>
              <a:gd name="adj" fmla="val 12308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13" name="Caminho TSN 1 texto"/>
          <p:cNvSpPr txBox="1"/>
          <p:nvPr/>
        </p:nvSpPr>
        <p:spPr>
          <a:xfrm>
            <a:off x="457200" y="2148840"/>
            <a:ext cx="1066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Apps TSN</a:t>
            </a:r>
            <a:endParaRPr lang="en-US" sz="1200" dirty="0"/>
          </a:p>
        </p:txBody>
      </p:sp>
      <p:sp>
        <p:nvSpPr>
          <p:cNvPr id="14" name="Caminho TSN seta 1"/>
          <p:cNvSpPr/>
          <p:nvPr/>
        </p:nvSpPr>
        <p:spPr>
          <a:xfrm>
            <a:off x="1551432" y="2446020"/>
            <a:ext cx="219456" cy="0"/>
          </a:xfrm>
          <a:prstGeom prst="line">
            <a:avLst/>
          </a:prstGeom>
          <a:noFill/>
          <a:ln w="15875">
            <a:solidFill>
              <a:srgbClr val="9A9DAB"/>
            </a:solidFill>
            <a:prstDash val="solid"/>
            <a:tailEnd type="triangle"/>
          </a:ln>
        </p:spPr>
      </p:sp>
      <p:sp>
        <p:nvSpPr>
          <p:cNvPr id="15" name="Caminho TSN 2"/>
          <p:cNvSpPr/>
          <p:nvPr/>
        </p:nvSpPr>
        <p:spPr>
          <a:xfrm>
            <a:off x="1798320" y="2148840"/>
            <a:ext cx="1066800" cy="594360"/>
          </a:xfrm>
          <a:prstGeom prst="roundRect">
            <a:avLst>
              <a:gd name="adj" fmla="val 12308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16" name="Caminho TSN 2 texto"/>
          <p:cNvSpPr txBox="1"/>
          <p:nvPr/>
        </p:nvSpPr>
        <p:spPr>
          <a:xfrm>
            <a:off x="1798320" y="2148840"/>
            <a:ext cx="1066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Rede do host</a:t>
            </a:r>
            <a:endParaRPr lang="en-US" sz="1200" dirty="0"/>
          </a:p>
        </p:txBody>
      </p:sp>
      <p:sp>
        <p:nvSpPr>
          <p:cNvPr id="17" name="Caminho TSN seta 2"/>
          <p:cNvSpPr/>
          <p:nvPr/>
        </p:nvSpPr>
        <p:spPr>
          <a:xfrm>
            <a:off x="2892552" y="2446020"/>
            <a:ext cx="219456" cy="0"/>
          </a:xfrm>
          <a:prstGeom prst="line">
            <a:avLst/>
          </a:prstGeom>
          <a:noFill/>
          <a:ln w="15875">
            <a:solidFill>
              <a:srgbClr val="9A9DAB"/>
            </a:solidFill>
            <a:prstDash val="solid"/>
            <a:tailEnd type="triangle"/>
          </a:ln>
        </p:spPr>
      </p:sp>
      <p:sp>
        <p:nvSpPr>
          <p:cNvPr id="18" name="Caminho TSN 3"/>
          <p:cNvSpPr/>
          <p:nvPr/>
        </p:nvSpPr>
        <p:spPr>
          <a:xfrm>
            <a:off x="3139440" y="2148840"/>
            <a:ext cx="1066800" cy="594360"/>
          </a:xfrm>
          <a:prstGeom prst="roundRect">
            <a:avLst>
              <a:gd name="adj" fmla="val 12308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19" name="Caminho TSN 3 texto"/>
          <p:cNvSpPr txBox="1"/>
          <p:nvPr/>
        </p:nvSpPr>
        <p:spPr>
          <a:xfrm>
            <a:off x="3139440" y="2148840"/>
            <a:ext cx="1066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TAS / CBS</a:t>
            </a:r>
            <a:endParaRPr lang="en-US" sz="1200" dirty="0"/>
          </a:p>
        </p:txBody>
      </p:sp>
      <p:sp>
        <p:nvSpPr>
          <p:cNvPr id="20" name="Lacuna Bridging fundo"/>
          <p:cNvSpPr/>
          <p:nvPr/>
        </p:nvSpPr>
        <p:spPr>
          <a:xfrm>
            <a:off x="457200" y="306324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12700">
            <a:solidFill>
              <a:srgbClr val="FBECEC"/>
            </a:solidFill>
            <a:prstDash val="solid"/>
          </a:ln>
        </p:spPr>
      </p:sp>
      <p:sp>
        <p:nvSpPr>
          <p:cNvPr id="21" name="Lacuna Bridging"/>
          <p:cNvSpPr txBox="1"/>
          <p:nvPr/>
        </p:nvSpPr>
        <p:spPr>
          <a:xfrm>
            <a:off x="640080" y="3136392"/>
            <a:ext cx="3383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Lacuna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usa a rede do host, que não é o padrão da indústria (overlay) e expõe o host.</a:t>
            </a:r>
            <a:endParaRPr lang="en-US" sz="1300" dirty="0"/>
          </a:p>
        </p:txBody>
      </p:sp>
      <p:sp>
        <p:nvSpPr>
          <p:cNvPr id="22" name="Bullets"/>
          <p:cNvSpPr txBox="1"/>
          <p:nvPr/>
        </p:nvSpPr>
        <p:spPr>
          <a:xfrm>
            <a:off x="4526280" y="1280160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TSN em containers Docker: as apps BE ficam numa bridge e as apps TSN usam a rede do host, para conseguirem configurar a NIC (TAS/CBS).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 TAS + LaunchTime os resultados ficam quase iguais ao nativo; com CBS basta o shaper.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Identificam dois problemas: várias apps a configurar o mesmo TAS entram em conflito, e mais containers num nó estragam configurações que eram ótimas.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EXTRA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KuberneTSN</a:t>
            </a:r>
            <a:endParaRPr lang="en-US" sz="2800" dirty="0"/>
          </a:p>
        </p:txBody>
      </p:sp>
      <p:sp>
        <p:nvSpPr>
          <p:cNvPr id="4" name="Caminho KuberneTSN 1"/>
          <p:cNvSpPr/>
          <p:nvPr/>
        </p:nvSpPr>
        <p:spPr>
          <a:xfrm>
            <a:off x="457200" y="1371600"/>
            <a:ext cx="1426464" cy="685800"/>
          </a:xfrm>
          <a:prstGeom prst="roundRect">
            <a:avLst>
              <a:gd name="adj" fmla="val 10667"/>
            </a:avLst>
          </a:prstGeom>
          <a:solidFill>
            <a:srgbClr val="F5F5FA"/>
          </a:solidFill>
          <a:ln w="12700">
            <a:solidFill>
              <a:srgbClr val="F5F5FA"/>
            </a:solidFill>
            <a:prstDash val="solid"/>
          </a:ln>
        </p:spPr>
      </p:sp>
      <p:sp>
        <p:nvSpPr>
          <p:cNvPr id="5" name="Caminho KuberneTSN 1 texto"/>
          <p:cNvSpPr txBox="1"/>
          <p:nvPr/>
        </p:nvSpPr>
        <p:spPr>
          <a:xfrm>
            <a:off x="457200" y="1371600"/>
            <a:ext cx="1426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Pod</a:t>
            </a:r>
            <a:endParaRPr lang="en-US" sz="1200" dirty="0"/>
          </a:p>
        </p:txBody>
      </p:sp>
      <p:sp>
        <p:nvSpPr>
          <p:cNvPr id="6" name="Caminho KuberneTSN seta 1"/>
          <p:cNvSpPr/>
          <p:nvPr/>
        </p:nvSpPr>
        <p:spPr>
          <a:xfrm>
            <a:off x="1911096" y="1714500"/>
            <a:ext cx="219456" cy="0"/>
          </a:xfrm>
          <a:prstGeom prst="line">
            <a:avLst/>
          </a:prstGeom>
          <a:noFill/>
          <a:ln w="15875">
            <a:solidFill>
              <a:srgbClr val="9A9DAB"/>
            </a:solidFill>
            <a:prstDash val="solid"/>
            <a:tailEnd type="triangle"/>
          </a:ln>
        </p:spPr>
      </p:sp>
      <p:sp>
        <p:nvSpPr>
          <p:cNvPr id="7" name="Caminho KuberneTSN 2"/>
          <p:cNvSpPr/>
          <p:nvPr/>
        </p:nvSpPr>
        <p:spPr>
          <a:xfrm>
            <a:off x="2157984" y="1371600"/>
            <a:ext cx="1426464" cy="685800"/>
          </a:xfrm>
          <a:prstGeom prst="roundRect">
            <a:avLst>
              <a:gd name="adj" fmla="val 10667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8" name="Caminho KuberneTSN 2 texto"/>
          <p:cNvSpPr txBox="1"/>
          <p:nvPr/>
        </p:nvSpPr>
        <p:spPr>
          <a:xfrm>
            <a:off x="2157984" y="1371600"/>
            <a:ext cx="1426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Interceção dos pacotes TSN</a:t>
            </a:r>
            <a:endParaRPr lang="en-US" sz="1200" dirty="0"/>
          </a:p>
        </p:txBody>
      </p:sp>
      <p:sp>
        <p:nvSpPr>
          <p:cNvPr id="9" name="Caminho KuberneTSN seta 2"/>
          <p:cNvSpPr/>
          <p:nvPr/>
        </p:nvSpPr>
        <p:spPr>
          <a:xfrm>
            <a:off x="3611880" y="1714500"/>
            <a:ext cx="219456" cy="0"/>
          </a:xfrm>
          <a:prstGeom prst="line">
            <a:avLst/>
          </a:prstGeom>
          <a:noFill/>
          <a:ln w="15875">
            <a:solidFill>
              <a:srgbClr val="9A9DAB"/>
            </a:solidFill>
            <a:prstDash val="solid"/>
            <a:tailEnd type="triangle"/>
          </a:ln>
        </p:spPr>
      </p:sp>
      <p:sp>
        <p:nvSpPr>
          <p:cNvPr id="10" name="Caminho KuberneTSN 3"/>
          <p:cNvSpPr/>
          <p:nvPr/>
        </p:nvSpPr>
        <p:spPr>
          <a:xfrm>
            <a:off x="3858768" y="1371600"/>
            <a:ext cx="1426464" cy="685800"/>
          </a:xfrm>
          <a:prstGeom prst="roundRect">
            <a:avLst>
              <a:gd name="adj" fmla="val 10667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11" name="Caminho KuberneTSN 3 texto"/>
          <p:cNvSpPr txBox="1"/>
          <p:nvPr/>
        </p:nvSpPr>
        <p:spPr>
          <a:xfrm>
            <a:off x="3858768" y="1371600"/>
            <a:ext cx="1426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Container TSN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shaping TAS</a:t>
            </a:r>
            <a:endParaRPr lang="en-US" sz="1200" dirty="0"/>
          </a:p>
        </p:txBody>
      </p:sp>
      <p:sp>
        <p:nvSpPr>
          <p:cNvPr id="12" name="Caminho KuberneTSN seta 3"/>
          <p:cNvSpPr/>
          <p:nvPr/>
        </p:nvSpPr>
        <p:spPr>
          <a:xfrm>
            <a:off x="5312664" y="1714500"/>
            <a:ext cx="219456" cy="0"/>
          </a:xfrm>
          <a:prstGeom prst="line">
            <a:avLst/>
          </a:prstGeom>
          <a:noFill/>
          <a:ln w="15875">
            <a:solidFill>
              <a:srgbClr val="9A9DAB"/>
            </a:solidFill>
            <a:prstDash val="solid"/>
            <a:tailEnd type="triangle"/>
          </a:ln>
        </p:spPr>
      </p:sp>
      <p:sp>
        <p:nvSpPr>
          <p:cNvPr id="13" name="Caminho KuberneTSN 4"/>
          <p:cNvSpPr/>
          <p:nvPr/>
        </p:nvSpPr>
        <p:spPr>
          <a:xfrm>
            <a:off x="5559552" y="1371600"/>
            <a:ext cx="1426464" cy="685800"/>
          </a:xfrm>
          <a:prstGeom prst="roundRect">
            <a:avLst>
              <a:gd name="adj" fmla="val 10667"/>
            </a:avLst>
          </a:prstGeom>
          <a:solidFill>
            <a:srgbClr val="EEEDFB"/>
          </a:solidFill>
          <a:ln w="12700">
            <a:solidFill>
              <a:srgbClr val="EEEDFB"/>
            </a:solidFill>
            <a:prstDash val="solid"/>
          </a:ln>
        </p:spPr>
      </p:sp>
      <p:sp>
        <p:nvSpPr>
          <p:cNvPr id="14" name="Caminho KuberneTSN 4 texto"/>
          <p:cNvSpPr txBox="1"/>
          <p:nvPr/>
        </p:nvSpPr>
        <p:spPr>
          <a:xfrm>
            <a:off x="5559552" y="1371600"/>
            <a:ext cx="1426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Envio com DPDK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(kernel bypass)</a:t>
            </a:r>
            <a:endParaRPr lang="en-US" sz="1200" dirty="0"/>
          </a:p>
        </p:txBody>
      </p:sp>
      <p:sp>
        <p:nvSpPr>
          <p:cNvPr id="15" name="Caminho KuberneTSN seta 4"/>
          <p:cNvSpPr/>
          <p:nvPr/>
        </p:nvSpPr>
        <p:spPr>
          <a:xfrm>
            <a:off x="7013448" y="1714500"/>
            <a:ext cx="219456" cy="0"/>
          </a:xfrm>
          <a:prstGeom prst="line">
            <a:avLst/>
          </a:prstGeom>
          <a:noFill/>
          <a:ln w="15875">
            <a:solidFill>
              <a:srgbClr val="9A9DAB"/>
            </a:solidFill>
            <a:prstDash val="solid"/>
            <a:tailEnd type="triangle"/>
          </a:ln>
        </p:spPr>
      </p:sp>
      <p:sp>
        <p:nvSpPr>
          <p:cNvPr id="16" name="Caminho KuberneTSN 5"/>
          <p:cNvSpPr/>
          <p:nvPr/>
        </p:nvSpPr>
        <p:spPr>
          <a:xfrm>
            <a:off x="7260336" y="1371600"/>
            <a:ext cx="1426464" cy="685800"/>
          </a:xfrm>
          <a:prstGeom prst="roundRect">
            <a:avLst>
              <a:gd name="adj" fmla="val 10667"/>
            </a:avLst>
          </a:prstGeom>
          <a:solidFill>
            <a:srgbClr val="F5F5FA"/>
          </a:solidFill>
          <a:ln w="12700">
            <a:solidFill>
              <a:srgbClr val="F5F5FA"/>
            </a:solidFill>
            <a:prstDash val="solid"/>
          </a:ln>
        </p:spPr>
      </p:sp>
      <p:sp>
        <p:nvSpPr>
          <p:cNvPr id="17" name="Caminho KuberneTSN 5 texto"/>
          <p:cNvSpPr txBox="1"/>
          <p:nvPr/>
        </p:nvSpPr>
        <p:spPr>
          <a:xfrm>
            <a:off x="7260336" y="1371600"/>
            <a:ext cx="1426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NIC</a:t>
            </a:r>
            <a:endParaRPr lang="en-US" sz="1200" dirty="0"/>
          </a:p>
        </p:txBody>
      </p:sp>
      <p:sp>
        <p:nvSpPr>
          <p:cNvPr id="18" name="Bullets"/>
          <p:cNvSpPr txBox="1"/>
          <p:nvPr/>
        </p:nvSpPr>
        <p:spPr>
          <a:xfrm>
            <a:off x="457200" y="251460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Plugin CNI que dá TSN a pods numa rede overlay.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Interceta os pacotes TSN antes de saírem do container. Um container próprio faz o shaping (TAS) e envia-os com kernel bypass (DPDK).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Latência e jitter praticamente iguais a bare-metal.</a:t>
            </a:r>
            <a:endParaRPr lang="en-US" sz="1500" dirty="0"/>
          </a:p>
        </p:txBody>
      </p:sp>
      <p:sp>
        <p:nvSpPr>
          <p:cNvPr id="19" name="Vantagem KuberneTSN fundo"/>
          <p:cNvSpPr/>
          <p:nvPr/>
        </p:nvSpPr>
        <p:spPr>
          <a:xfrm>
            <a:off x="4937760" y="251460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E4F4EE"/>
          </a:solidFill>
          <a:ln w="12700">
            <a:solidFill>
              <a:srgbClr val="E4F4EE"/>
            </a:solidFill>
            <a:prstDash val="solid"/>
          </a:ln>
        </p:spPr>
      </p:sp>
      <p:sp>
        <p:nvSpPr>
          <p:cNvPr id="20" name="Vantagem KuberneTSN"/>
          <p:cNvSpPr txBox="1"/>
          <p:nvPr/>
        </p:nvSpPr>
        <p:spPr>
          <a:xfrm>
            <a:off x="5120640" y="258775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Vantagem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latência e jitter ao nível do bare-metal.</a:t>
            </a:r>
            <a:endParaRPr lang="en-US" sz="1300" dirty="0"/>
          </a:p>
        </p:txBody>
      </p:sp>
      <p:sp>
        <p:nvSpPr>
          <p:cNvPr id="21" name="Desvantagens KuberneTSN fundo"/>
          <p:cNvSpPr/>
          <p:nvPr/>
        </p:nvSpPr>
        <p:spPr>
          <a:xfrm>
            <a:off x="4937760" y="32004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BECEC"/>
          </a:solidFill>
          <a:ln w="12700">
            <a:solidFill>
              <a:srgbClr val="FBECEC"/>
            </a:solidFill>
            <a:prstDash val="solid"/>
          </a:ln>
        </p:spPr>
      </p:sp>
      <p:sp>
        <p:nvSpPr>
          <p:cNvPr id="22" name="Desvantagens KuberneTSN"/>
          <p:cNvSpPr txBox="1"/>
          <p:nvPr/>
        </p:nvSpPr>
        <p:spPr>
          <a:xfrm>
            <a:off x="5120640" y="3273552"/>
            <a:ext cx="33832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Desvantagens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 o kernel bypass perdem-se a monitorização e a segurança do kernel. Presumo também que fique um core ocupado a fazer polling (o paper não o diz).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EXTRA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TSN Metadata Proxy</a:t>
            </a:r>
            <a:endParaRPr lang="en-US" sz="2800" dirty="0"/>
          </a:p>
        </p:txBody>
      </p:sp>
      <p:sp>
        <p:nvSpPr>
          <p:cNvPr id="4" name="Caminho Proxy 1"/>
          <p:cNvSpPr/>
          <p:nvPr/>
        </p:nvSpPr>
        <p:spPr>
          <a:xfrm>
            <a:off x="457200" y="1371600"/>
            <a:ext cx="1426464" cy="685800"/>
          </a:xfrm>
          <a:prstGeom prst="roundRect">
            <a:avLst>
              <a:gd name="adj" fmla="val 10667"/>
            </a:avLst>
          </a:prstGeom>
          <a:solidFill>
            <a:srgbClr val="F5F5FA"/>
          </a:solidFill>
          <a:ln w="12700">
            <a:solidFill>
              <a:srgbClr val="F5F5FA"/>
            </a:solidFill>
            <a:prstDash val="solid"/>
          </a:ln>
        </p:spPr>
      </p:sp>
      <p:sp>
        <p:nvSpPr>
          <p:cNvPr id="5" name="Caminho Proxy 1 texto"/>
          <p:cNvSpPr txBox="1"/>
          <p:nvPr/>
        </p:nvSpPr>
        <p:spPr>
          <a:xfrm>
            <a:off x="457200" y="1371600"/>
            <a:ext cx="1426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Pod</a:t>
            </a:r>
            <a:endParaRPr lang="en-US" sz="1200" dirty="0"/>
          </a:p>
        </p:txBody>
      </p:sp>
      <p:sp>
        <p:nvSpPr>
          <p:cNvPr id="6" name="Caminho Proxy seta 1"/>
          <p:cNvSpPr/>
          <p:nvPr/>
        </p:nvSpPr>
        <p:spPr>
          <a:xfrm>
            <a:off x="1911096" y="1714500"/>
            <a:ext cx="219456" cy="0"/>
          </a:xfrm>
          <a:prstGeom prst="line">
            <a:avLst/>
          </a:prstGeom>
          <a:noFill/>
          <a:ln w="15875">
            <a:solidFill>
              <a:srgbClr val="9A9DAB"/>
            </a:solidFill>
            <a:prstDash val="solid"/>
            <a:tailEnd type="triangle"/>
          </a:ln>
        </p:spPr>
      </p:sp>
      <p:sp>
        <p:nvSpPr>
          <p:cNvPr id="7" name="Caminho Proxy 2"/>
          <p:cNvSpPr/>
          <p:nvPr/>
        </p:nvSpPr>
        <p:spPr>
          <a:xfrm>
            <a:off x="2157984" y="1371600"/>
            <a:ext cx="1426464" cy="685800"/>
          </a:xfrm>
          <a:prstGeom prst="roundRect">
            <a:avLst>
              <a:gd name="adj" fmla="val 10667"/>
            </a:avLst>
          </a:prstGeom>
          <a:solidFill>
            <a:srgbClr val="E4F4EE"/>
          </a:solidFill>
          <a:ln w="12700">
            <a:solidFill>
              <a:srgbClr val="E4F4EE"/>
            </a:solidFill>
            <a:prstDash val="solid"/>
          </a:ln>
        </p:spPr>
      </p:sp>
      <p:sp>
        <p:nvSpPr>
          <p:cNvPr id="8" name="Caminho Proxy 2 texto"/>
          <p:cNvSpPr txBox="1"/>
          <p:nvPr/>
        </p:nvSpPr>
        <p:spPr>
          <a:xfrm>
            <a:off x="2157984" y="1371600"/>
            <a:ext cx="1426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eBPF guarda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prioridade + txtime</a:t>
            </a:r>
            <a:endParaRPr lang="en-US" sz="1200" dirty="0"/>
          </a:p>
        </p:txBody>
      </p:sp>
      <p:sp>
        <p:nvSpPr>
          <p:cNvPr id="9" name="Caminho Proxy seta 2"/>
          <p:cNvSpPr/>
          <p:nvPr/>
        </p:nvSpPr>
        <p:spPr>
          <a:xfrm>
            <a:off x="3611880" y="1714500"/>
            <a:ext cx="219456" cy="0"/>
          </a:xfrm>
          <a:prstGeom prst="line">
            <a:avLst/>
          </a:prstGeom>
          <a:noFill/>
          <a:ln w="15875">
            <a:solidFill>
              <a:srgbClr val="9A9DAB"/>
            </a:solidFill>
            <a:prstDash val="solid"/>
            <a:tailEnd type="triangle"/>
          </a:ln>
        </p:spPr>
      </p:sp>
      <p:sp>
        <p:nvSpPr>
          <p:cNvPr id="10" name="Caminho Proxy 3"/>
          <p:cNvSpPr/>
          <p:nvPr/>
        </p:nvSpPr>
        <p:spPr>
          <a:xfrm>
            <a:off x="3858768" y="1371600"/>
            <a:ext cx="1426464" cy="685800"/>
          </a:xfrm>
          <a:prstGeom prst="roundRect">
            <a:avLst>
              <a:gd name="adj" fmla="val 10667"/>
            </a:avLst>
          </a:prstGeom>
          <a:solidFill>
            <a:srgbClr val="F5F5FA"/>
          </a:solidFill>
          <a:ln w="12700">
            <a:solidFill>
              <a:srgbClr val="F5F5FA"/>
            </a:solidFill>
            <a:prstDash val="solid"/>
          </a:ln>
        </p:spPr>
      </p:sp>
      <p:sp>
        <p:nvSpPr>
          <p:cNvPr id="11" name="Caminho Proxy 3 texto"/>
          <p:cNvSpPr txBox="1"/>
          <p:nvPr/>
        </p:nvSpPr>
        <p:spPr>
          <a:xfrm>
            <a:off x="3858768" y="1371600"/>
            <a:ext cx="1426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Rede overlay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(kernel)</a:t>
            </a:r>
            <a:endParaRPr lang="en-US" sz="1200" dirty="0"/>
          </a:p>
        </p:txBody>
      </p:sp>
      <p:sp>
        <p:nvSpPr>
          <p:cNvPr id="12" name="Caminho Proxy seta 3"/>
          <p:cNvSpPr/>
          <p:nvPr/>
        </p:nvSpPr>
        <p:spPr>
          <a:xfrm>
            <a:off x="5312664" y="1714500"/>
            <a:ext cx="219456" cy="0"/>
          </a:xfrm>
          <a:prstGeom prst="line">
            <a:avLst/>
          </a:prstGeom>
          <a:noFill/>
          <a:ln w="15875">
            <a:solidFill>
              <a:srgbClr val="9A9DAB"/>
            </a:solidFill>
            <a:prstDash val="solid"/>
            <a:tailEnd type="triangle"/>
          </a:ln>
        </p:spPr>
      </p:sp>
      <p:sp>
        <p:nvSpPr>
          <p:cNvPr id="13" name="Caminho Proxy 4"/>
          <p:cNvSpPr/>
          <p:nvPr/>
        </p:nvSpPr>
        <p:spPr>
          <a:xfrm>
            <a:off x="5559552" y="1371600"/>
            <a:ext cx="1426464" cy="685800"/>
          </a:xfrm>
          <a:prstGeom prst="roundRect">
            <a:avLst>
              <a:gd name="adj" fmla="val 10667"/>
            </a:avLst>
          </a:prstGeom>
          <a:solidFill>
            <a:srgbClr val="E4F4EE"/>
          </a:solidFill>
          <a:ln w="12700">
            <a:solidFill>
              <a:srgbClr val="E4F4EE"/>
            </a:solidFill>
            <a:prstDash val="solid"/>
          </a:ln>
        </p:spPr>
      </p:sp>
      <p:sp>
        <p:nvSpPr>
          <p:cNvPr id="14" name="Caminho Proxy 4 texto"/>
          <p:cNvSpPr txBox="1"/>
          <p:nvPr/>
        </p:nvSpPr>
        <p:spPr>
          <a:xfrm>
            <a:off x="5559552" y="1371600"/>
            <a:ext cx="1426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eBPF repõe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os metadados</a:t>
            </a:r>
            <a:endParaRPr lang="en-US" sz="1200" dirty="0"/>
          </a:p>
        </p:txBody>
      </p:sp>
      <p:sp>
        <p:nvSpPr>
          <p:cNvPr id="15" name="Caminho Proxy seta 4"/>
          <p:cNvSpPr/>
          <p:nvPr/>
        </p:nvSpPr>
        <p:spPr>
          <a:xfrm>
            <a:off x="7013448" y="1714500"/>
            <a:ext cx="219456" cy="0"/>
          </a:xfrm>
          <a:prstGeom prst="line">
            <a:avLst/>
          </a:prstGeom>
          <a:noFill/>
          <a:ln w="15875">
            <a:solidFill>
              <a:srgbClr val="9A9DAB"/>
            </a:solidFill>
            <a:prstDash val="solid"/>
            <a:tailEnd type="triangle"/>
          </a:ln>
        </p:spPr>
      </p:sp>
      <p:sp>
        <p:nvSpPr>
          <p:cNvPr id="16" name="Caminho Proxy 5"/>
          <p:cNvSpPr/>
          <p:nvPr/>
        </p:nvSpPr>
        <p:spPr>
          <a:xfrm>
            <a:off x="7260336" y="1371600"/>
            <a:ext cx="1426464" cy="685800"/>
          </a:xfrm>
          <a:prstGeom prst="roundRect">
            <a:avLst>
              <a:gd name="adj" fmla="val 10667"/>
            </a:avLst>
          </a:prstGeom>
          <a:solidFill>
            <a:srgbClr val="F5F5FA"/>
          </a:solidFill>
          <a:ln w="12700">
            <a:solidFill>
              <a:srgbClr val="F5F5FA"/>
            </a:solidFill>
            <a:prstDash val="solid"/>
          </a:ln>
        </p:spPr>
      </p:sp>
      <p:sp>
        <p:nvSpPr>
          <p:cNvPr id="17" name="Caminho Proxy 5 texto"/>
          <p:cNvSpPr txBox="1"/>
          <p:nvPr/>
        </p:nvSpPr>
        <p:spPr>
          <a:xfrm>
            <a:off x="7260336" y="1371600"/>
            <a:ext cx="1426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NIC</a:t>
            </a:r>
            <a:endParaRPr lang="en-US" sz="1200" dirty="0"/>
          </a:p>
        </p:txBody>
      </p:sp>
      <p:sp>
        <p:nvSpPr>
          <p:cNvPr id="18" name="Bullets"/>
          <p:cNvSpPr txBox="1"/>
          <p:nvPr/>
        </p:nvSpPr>
        <p:spPr>
          <a:xfrm>
            <a:off x="457200" y="251460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Plugin CNI que preserva os metadados TSN nos pacotes.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 programa eBPF guarda a prioridade e o txtime à saída do pod e volta a pô-los antes da NIC.</a:t>
            </a:r>
            <a:endParaRPr lang="en-US" sz="1500" dirty="0"/>
          </a:p>
        </p:txBody>
      </p:sp>
      <p:sp>
        <p:nvSpPr>
          <p:cNvPr id="19" name="Vantagem Proxy fundo"/>
          <p:cNvSpPr/>
          <p:nvPr/>
        </p:nvSpPr>
        <p:spPr>
          <a:xfrm>
            <a:off x="4937760" y="251460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4F4EE"/>
          </a:solidFill>
          <a:ln w="12700">
            <a:solidFill>
              <a:srgbClr val="E4F4EE"/>
            </a:solidFill>
            <a:prstDash val="solid"/>
          </a:ln>
        </p:spPr>
      </p:sp>
      <p:sp>
        <p:nvSpPr>
          <p:cNvPr id="20" name="Vantagem Proxy"/>
          <p:cNvSpPr txBox="1"/>
          <p:nvPr/>
        </p:nvSpPr>
        <p:spPr>
          <a:xfrm>
            <a:off x="5120640" y="2587752"/>
            <a:ext cx="3383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Vantagem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os pacotes continuam a passar pelo kernel e o custo deve ser baixo (12 bytes por pacote).</a:t>
            </a:r>
            <a:endParaRPr lang="en-US" sz="1300" dirty="0"/>
          </a:p>
        </p:txBody>
      </p:sp>
      <p:sp>
        <p:nvSpPr>
          <p:cNvPr id="21" name="Desvantagens Proxy fundo"/>
          <p:cNvSpPr/>
          <p:nvPr/>
        </p:nvSpPr>
        <p:spPr>
          <a:xfrm>
            <a:off x="4937760" y="352044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BECEC"/>
          </a:solidFill>
          <a:ln w="12700">
            <a:solidFill>
              <a:srgbClr val="FBECEC"/>
            </a:solidFill>
            <a:prstDash val="solid"/>
          </a:ln>
        </p:spPr>
      </p:sp>
      <p:sp>
        <p:nvSpPr>
          <p:cNvPr id="22" name="Desvantagens Proxy"/>
          <p:cNvSpPr txBox="1"/>
          <p:nvPr/>
        </p:nvSpPr>
        <p:spPr>
          <a:xfrm>
            <a:off x="5120640" y="3593592"/>
            <a:ext cx="33832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Desvantagens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não reduz a latência do container e não fizeram testes de desempenho. Deixam de fora a configuração centralizada da rede.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05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148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Proposta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926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 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sertacao Clean">
  <a:themeElements>
    <a:clrScheme name="Dissertacao Clean">
      <a:dk1>
        <a:srgbClr val="2B2D42"/>
      </a:dk1>
      <a:lt1>
        <a:srgbClr val="FFFFFF"/>
      </a:lt1>
      <a:dk2>
        <a:srgbClr val="6A6E7E"/>
      </a:dk2>
      <a:lt2>
        <a:srgbClr val="F5F5FA"/>
      </a:lt2>
      <a:accent1>
        <a:srgbClr val="5B4FC4"/>
      </a:accent1>
      <a:accent2>
        <a:srgbClr val="2E8B74"/>
      </a:accent2>
      <a:accent3>
        <a:srgbClr val="C0504D"/>
      </a:accent3>
      <a:accent4>
        <a:srgbClr val="D99A2B"/>
      </a:accent4>
      <a:accent5>
        <a:srgbClr val="EEEDFB"/>
      </a:accent5>
      <a:accent6>
        <a:srgbClr val="E4F4EE"/>
      </a:accent6>
      <a:hlink>
        <a:srgbClr val="5B4FC4"/>
      </a:hlink>
      <a:folHlink>
        <a:srgbClr val="7A6FD0"/>
      </a:folHlink>
    </a:clrScheme>
    <a:fontScheme name="Dissertacao Clea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relacionado</dc:title>
  <dc:subject>PptxGenJS Presentation</dc:subject>
  <dc:creator>Pedro Melo</dc:creator>
  <cp:lastModifiedBy>Pedro Melo</cp:lastModifiedBy>
  <cp:revision>1</cp:revision>
  <dcterms:created xsi:type="dcterms:W3CDTF">2026-10-14T18:08:56Z</dcterms:created>
  <dcterms:modified xsi:type="dcterms:W3CDTF">2026-10-14T18:08:56Z</dcterms:modified>
</cp:coreProperties>
</file>